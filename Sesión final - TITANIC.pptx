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notesMasterIdLst>
    <p:notesMasterId r:id="rId30"/>
  </p:notesMasterIdLst>
  <p:sldIdLst>
    <p:sldId id="256" r:id="rId5"/>
    <p:sldId id="278" r:id="rId6"/>
    <p:sldId id="279" r:id="rId7"/>
    <p:sldId id="277" r:id="rId8"/>
    <p:sldId id="257" r:id="rId9"/>
    <p:sldId id="265" r:id="rId10"/>
    <p:sldId id="280" r:id="rId11"/>
    <p:sldId id="260" r:id="rId12"/>
    <p:sldId id="268" r:id="rId13"/>
    <p:sldId id="281" r:id="rId14"/>
    <p:sldId id="261" r:id="rId15"/>
    <p:sldId id="282" r:id="rId16"/>
    <p:sldId id="283" r:id="rId17"/>
    <p:sldId id="274" r:id="rId18"/>
    <p:sldId id="275" r:id="rId19"/>
    <p:sldId id="284" r:id="rId20"/>
    <p:sldId id="285" r:id="rId21"/>
    <p:sldId id="286" r:id="rId22"/>
    <p:sldId id="287" r:id="rId23"/>
    <p:sldId id="288" r:id="rId24"/>
    <p:sldId id="289" r:id="rId25"/>
    <p:sldId id="290" r:id="rId26"/>
    <p:sldId id="291" r:id="rId27"/>
    <p:sldId id="292" r:id="rId28"/>
    <p:sldId id="29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9" d="100"/>
          <a:sy n="59" d="100"/>
        </p:scale>
        <p:origin x="72" y="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6094F0-1A6C-4620-9004-DF4151FCC49F}" type="datetimeFigureOut">
              <a:rPr lang="es-ES" smtClean="0"/>
              <a:t>14/10/2025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98106-B92C-4BF8-96BB-AC89A2241532}" type="slidenum">
              <a:rPr lang="es-ES" smtClean="0"/>
              <a:t>‹Nº›</a:t>
            </a:fld>
            <a:endParaRPr lang="es-ES" dirty="0"/>
          </a:p>
        </p:txBody>
      </p:sp>
    </p:spTree>
    <p:extLst>
      <p:ext uri="{BB962C8B-B14F-4D97-AF65-F5344CB8AC3E}">
        <p14:creationId xmlns:p14="http://schemas.microsoft.com/office/powerpoint/2010/main" val="2170940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C9798106-B92C-4BF8-96BB-AC89A2241532}" type="slidenum">
              <a:rPr lang="es-ES" smtClean="0"/>
              <a:t>5</a:t>
            </a:fld>
            <a:endParaRPr lang="es-ES" dirty="0"/>
          </a:p>
        </p:txBody>
      </p:sp>
    </p:spTree>
    <p:extLst>
      <p:ext uri="{BB962C8B-B14F-4D97-AF65-F5344CB8AC3E}">
        <p14:creationId xmlns:p14="http://schemas.microsoft.com/office/powerpoint/2010/main" val="16579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EA4F98C-5979-433B-B49F-1C95EB111D3D}" type="datetimeFigureOut">
              <a:rPr lang="es-ES" smtClean="0"/>
              <a:t>14/10/2025</a:t>
            </a:fld>
            <a:endParaRPr lang="es-ES" dirty="0"/>
          </a:p>
        </p:txBody>
      </p:sp>
      <p:sp>
        <p:nvSpPr>
          <p:cNvPr id="5" name="Footer Placeholder 4"/>
          <p:cNvSpPr>
            <a:spLocks noGrp="1"/>
          </p:cNvSpPr>
          <p:nvPr>
            <p:ph type="ftr" sz="quarter" idx="11"/>
          </p:nvPr>
        </p:nvSpPr>
        <p:spPr>
          <a:xfrm>
            <a:off x="1876424" y="5410201"/>
            <a:ext cx="5124886" cy="365125"/>
          </a:xfrm>
        </p:spPr>
        <p:txBody>
          <a:bodyPr/>
          <a:lstStyle/>
          <a:p>
            <a:endParaRPr lang="es-ES" dirty="0"/>
          </a:p>
        </p:txBody>
      </p:sp>
      <p:sp>
        <p:nvSpPr>
          <p:cNvPr id="6" name="Slide Number Placeholder 5"/>
          <p:cNvSpPr>
            <a:spLocks noGrp="1"/>
          </p:cNvSpPr>
          <p:nvPr>
            <p:ph type="sldNum" sz="quarter" idx="12"/>
          </p:nvPr>
        </p:nvSpPr>
        <p:spPr>
          <a:xfrm>
            <a:off x="9896911" y="5410199"/>
            <a:ext cx="771089" cy="365125"/>
          </a:xfrm>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2526948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1067100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Date Placeholder 3"/>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2475755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1537946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8" name="Footer Placeholder 7"/>
          <p:cNvSpPr>
            <a:spLocks noGrp="1"/>
          </p:cNvSpPr>
          <p:nvPr>
            <p:ph type="ftr" sz="quarter" idx="11"/>
          </p:nvPr>
        </p:nvSpPr>
        <p:spPr/>
        <p:txBody>
          <a:bodyPr/>
          <a:lstStyle/>
          <a:p>
            <a:endParaRPr lang="es-ES" dirty="0"/>
          </a:p>
        </p:txBody>
      </p:sp>
      <p:sp>
        <p:nvSpPr>
          <p:cNvPr id="9" name="Slide Number Placeholder 8"/>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4249694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1096001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3" name="Footer Placeholder 2"/>
          <p:cNvSpPr>
            <a:spLocks noGrp="1"/>
          </p:cNvSpPr>
          <p:nvPr>
            <p:ph type="ftr" sz="quarter" idx="11"/>
          </p:nvPr>
        </p:nvSpPr>
        <p:spPr/>
        <p:txBody>
          <a:bodyPr/>
          <a:lstStyle/>
          <a:p>
            <a:endParaRPr lang="es-ES" dirty="0"/>
          </a:p>
        </p:txBody>
      </p:sp>
      <p:sp>
        <p:nvSpPr>
          <p:cNvPr id="4" name="Slide Number Placeholder 3"/>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3013641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2875183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smtClean="0"/>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291434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dirty="0" smtClean="0"/>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3106387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19616460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smtClean="0"/>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695AD929-ED01-4D81-9E91-816A97615FEA}" type="slidenum">
              <a:rPr lang="es-ES" smtClean="0"/>
              <a:t>‹Nº›</a:t>
            </a:fld>
            <a:endParaRPr lang="es-E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68556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Date Placeholder 4"/>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6" name="Footer Placeholder 5"/>
          <p:cNvSpPr>
            <a:spLocks noGrp="1"/>
          </p:cNvSpPr>
          <p:nvPr>
            <p:ph type="ftr" sz="quarter" idx="11"/>
          </p:nvPr>
        </p:nvSpPr>
        <p:spPr/>
        <p:txBody>
          <a:bodyPr/>
          <a:lstStyle/>
          <a:p>
            <a:endParaRPr lang="es-ES" dirty="0"/>
          </a:p>
        </p:txBody>
      </p:sp>
      <p:sp>
        <p:nvSpPr>
          <p:cNvPr id="7" name="Slide Number Placeholder 6"/>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2893115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smtClean="0"/>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3" name="Date Placeholder 2"/>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11030958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smtClean="0"/>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smtClean="0"/>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smtClean="0"/>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dirty="0" smtClean="0"/>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Editar el estilo de texto del patrón</a:t>
            </a:r>
          </a:p>
        </p:txBody>
      </p:sp>
      <p:sp>
        <p:nvSpPr>
          <p:cNvPr id="3" name="Date Placeholder 2"/>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4" name="Footer Placeholder 3"/>
          <p:cNvSpPr>
            <a:spLocks noGrp="1"/>
          </p:cNvSpPr>
          <p:nvPr>
            <p:ph type="ftr" sz="quarter" idx="11"/>
          </p:nvPr>
        </p:nvSpPr>
        <p:spPr/>
        <p:txBody>
          <a:bodyPr/>
          <a:lstStyle/>
          <a:p>
            <a:endParaRPr lang="es-ES" dirty="0"/>
          </a:p>
        </p:txBody>
      </p:sp>
      <p:sp>
        <p:nvSpPr>
          <p:cNvPr id="5" name="Slide Number Placeholder 4"/>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676501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244081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EA4F98C-5979-433B-B49F-1C95EB111D3D}" type="datetimeFigureOut">
              <a:rPr lang="es-ES" smtClean="0"/>
              <a:t>14/10/2025</a:t>
            </a:fld>
            <a:endParaRPr lang="es-ES" dirty="0"/>
          </a:p>
        </p:txBody>
      </p:sp>
      <p:sp>
        <p:nvSpPr>
          <p:cNvPr id="5" name="Footer Placeholder 4"/>
          <p:cNvSpPr>
            <a:spLocks noGrp="1"/>
          </p:cNvSpPr>
          <p:nvPr>
            <p:ph type="ftr" sz="quarter" idx="11"/>
          </p:nvPr>
        </p:nvSpPr>
        <p:spPr/>
        <p:txBody>
          <a:bodyPr/>
          <a:lstStyle/>
          <a:p>
            <a:endParaRPr lang="es-ES" dirty="0"/>
          </a:p>
        </p:txBody>
      </p:sp>
      <p:sp>
        <p:nvSpPr>
          <p:cNvPr id="6" name="Slide Number Placeholder 5"/>
          <p:cNvSpPr>
            <a:spLocks noGrp="1"/>
          </p:cNvSpPr>
          <p:nvPr>
            <p:ph type="sldNum" sz="quarter" idx="12"/>
          </p:nvPr>
        </p:nvSpPr>
        <p:spPr/>
        <p:txBody>
          <a:bodyPr/>
          <a:lstStyle/>
          <a:p>
            <a:fld id="{695AD929-ED01-4D81-9E91-816A97615FEA}" type="slidenum">
              <a:rPr lang="es-ES" smtClean="0"/>
              <a:t>‹Nº›</a:t>
            </a:fld>
            <a:endParaRPr lang="es-ES" dirty="0"/>
          </a:p>
        </p:txBody>
      </p:sp>
    </p:spTree>
    <p:extLst>
      <p:ext uri="{BB962C8B-B14F-4D97-AF65-F5344CB8AC3E}">
        <p14:creationId xmlns:p14="http://schemas.microsoft.com/office/powerpoint/2010/main" val="37568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EA4F98C-5979-433B-B49F-1C95EB111D3D}" type="datetimeFigureOut">
              <a:rPr lang="es-ES" smtClean="0"/>
              <a:t>14/10/2025</a:t>
            </a:fld>
            <a:endParaRPr lang="es-E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s-E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95AD929-ED01-4D81-9E91-816A97615FEA}" type="slidenum">
              <a:rPr lang="es-ES" smtClean="0"/>
              <a:t>‹Nº›</a:t>
            </a:fld>
            <a:endParaRPr lang="es-ES" dirty="0"/>
          </a:p>
        </p:txBody>
      </p:sp>
    </p:spTree>
    <p:extLst>
      <p:ext uri="{BB962C8B-B14F-4D97-AF65-F5344CB8AC3E}">
        <p14:creationId xmlns:p14="http://schemas.microsoft.com/office/powerpoint/2010/main" val="641386429"/>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1EA00C-163F-8A6E-541A-A1102DD10086}"/>
              </a:ext>
            </a:extLst>
          </p:cNvPr>
          <p:cNvSpPr>
            <a:spLocks noGrp="1"/>
          </p:cNvSpPr>
          <p:nvPr>
            <p:ph type="ctrTitle"/>
          </p:nvPr>
        </p:nvSpPr>
        <p:spPr/>
        <p:txBody>
          <a:bodyPr>
            <a:normAutofit/>
          </a:bodyPr>
          <a:lstStyle/>
          <a:p>
            <a:r>
              <a:rPr lang="es-ES" dirty="0"/>
              <a:t>Introducción a la inteligencia artificial y sus algoritmos</a:t>
            </a:r>
          </a:p>
        </p:txBody>
      </p:sp>
      <p:sp>
        <p:nvSpPr>
          <p:cNvPr id="3" name="Subtítulo 2">
            <a:extLst>
              <a:ext uri="{FF2B5EF4-FFF2-40B4-BE49-F238E27FC236}">
                <a16:creationId xmlns:a16="http://schemas.microsoft.com/office/drawing/2014/main" id="{B6FE4B47-7925-98CA-5264-AFC503C82175}"/>
              </a:ext>
            </a:extLst>
          </p:cNvPr>
          <p:cNvSpPr>
            <a:spLocks noGrp="1"/>
          </p:cNvSpPr>
          <p:nvPr>
            <p:ph type="subTitle" idx="1"/>
          </p:nvPr>
        </p:nvSpPr>
        <p:spPr/>
        <p:txBody>
          <a:bodyPr/>
          <a:lstStyle/>
          <a:p>
            <a:r>
              <a:rPr lang="es-ES" dirty="0"/>
              <a:t>Beatriz Alloza Blasco</a:t>
            </a:r>
          </a:p>
        </p:txBody>
      </p:sp>
    </p:spTree>
    <p:extLst>
      <p:ext uri="{BB962C8B-B14F-4D97-AF65-F5344CB8AC3E}">
        <p14:creationId xmlns:p14="http://schemas.microsoft.com/office/powerpoint/2010/main" val="3361132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¡¡¡HOY ES EL EXAMEN!!!</a:t>
            </a:r>
            <a:endParaRPr lang="es-ES" dirty="0"/>
          </a:p>
        </p:txBody>
      </p:sp>
      <p:sp>
        <p:nvSpPr>
          <p:cNvPr id="3" name="Marcador de contenido 2"/>
          <p:cNvSpPr>
            <a:spLocks noGrp="1"/>
          </p:cNvSpPr>
          <p:nvPr>
            <p:ph idx="1"/>
          </p:nvPr>
        </p:nvSpPr>
        <p:spPr/>
        <p:txBody>
          <a:bodyPr/>
          <a:lstStyle/>
          <a:p>
            <a:r>
              <a:rPr lang="es-ES" dirty="0" smtClean="0"/>
              <a:t>Para el que no se ha enterado:</a:t>
            </a:r>
          </a:p>
          <a:p>
            <a:pPr lvl="0"/>
            <a:r>
              <a:rPr lang="es-ES" dirty="0"/>
              <a:t>Revisad las preguntas de test del módulo 1, 2, 4, 6 y 8.</a:t>
            </a:r>
          </a:p>
          <a:p>
            <a:pPr lvl="0"/>
            <a:r>
              <a:rPr lang="es-ES" dirty="0"/>
              <a:t>Del módulo 5 revisad los tipos de aprendizaje automático y la IA generativa.</a:t>
            </a:r>
          </a:p>
          <a:p>
            <a:endParaRPr lang="es-ES" dirty="0"/>
          </a:p>
        </p:txBody>
      </p:sp>
    </p:spTree>
    <p:extLst>
      <p:ext uri="{BB962C8B-B14F-4D97-AF65-F5344CB8AC3E}">
        <p14:creationId xmlns:p14="http://schemas.microsoft.com/office/powerpoint/2010/main" val="1679710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ENCUESTA DE SATISFACCIÓN</a:t>
            </a:r>
            <a:endParaRPr lang="es-ES" dirty="0"/>
          </a:p>
        </p:txBody>
      </p:sp>
      <p:sp>
        <p:nvSpPr>
          <p:cNvPr id="3" name="Marcador de contenido 2"/>
          <p:cNvSpPr>
            <a:spLocks noGrp="1"/>
          </p:cNvSpPr>
          <p:nvPr>
            <p:ph idx="1"/>
          </p:nvPr>
        </p:nvSpPr>
        <p:spPr/>
        <p:txBody>
          <a:bodyPr/>
          <a:lstStyle/>
          <a:p>
            <a:r>
              <a:rPr lang="es-ES" dirty="0" smtClean="0"/>
              <a:t>Puede que una compañera del INAEM entre hoy a hacer una encuesta externa, sin embargo, en King’s Corner nos gustaría conocer tu opinión.</a:t>
            </a:r>
          </a:p>
          <a:p>
            <a:r>
              <a:rPr lang="es-ES" dirty="0" smtClean="0"/>
              <a:t>En el curso, tendrás una encuesta de valoración, en la misma zona que el examen. </a:t>
            </a:r>
          </a:p>
          <a:p>
            <a:r>
              <a:rPr lang="es-ES" b="1" dirty="0" smtClean="0"/>
              <a:t>Hay un momento en el que os pide la edad, que no es tipo test, tenéis que rellenarlo o no os dejará seguir.</a:t>
            </a:r>
            <a:endParaRPr lang="es-ES" b="1" dirty="0"/>
          </a:p>
        </p:txBody>
      </p:sp>
    </p:spTree>
    <p:extLst>
      <p:ext uri="{BB962C8B-B14F-4D97-AF65-F5344CB8AC3E}">
        <p14:creationId xmlns:p14="http://schemas.microsoft.com/office/powerpoint/2010/main" val="2751476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618518"/>
            <a:ext cx="9905998" cy="893042"/>
          </a:xfrm>
        </p:spPr>
        <p:txBody>
          <a:bodyPr/>
          <a:lstStyle/>
          <a:p>
            <a:r>
              <a:rPr lang="es-ES" dirty="0" smtClean="0"/>
              <a:t>TAREAS IMPORTANTES</a:t>
            </a:r>
            <a:endParaRPr lang="es-ES" dirty="0"/>
          </a:p>
        </p:txBody>
      </p:sp>
      <p:sp>
        <p:nvSpPr>
          <p:cNvPr id="3" name="Marcador de contenido 2"/>
          <p:cNvSpPr>
            <a:spLocks noGrp="1"/>
          </p:cNvSpPr>
          <p:nvPr>
            <p:ph idx="1"/>
          </p:nvPr>
        </p:nvSpPr>
        <p:spPr>
          <a:xfrm>
            <a:off x="914400" y="1511560"/>
            <a:ext cx="10282335" cy="4460032"/>
          </a:xfrm>
        </p:spPr>
        <p:txBody>
          <a:bodyPr>
            <a:normAutofit fontScale="92500" lnSpcReduction="10000"/>
          </a:bodyPr>
          <a:lstStyle/>
          <a:p>
            <a:r>
              <a:rPr lang="es-ES" dirty="0" smtClean="0"/>
              <a:t>Tenéis hasta el 17 al medio día para entregar las tareas pendientes. Comprobad que en calificaciones tenéis los 8 CPS con nota.</a:t>
            </a:r>
          </a:p>
          <a:p>
            <a:pPr lvl="1"/>
            <a:r>
              <a:rPr lang="es-ES" dirty="0"/>
              <a:t>Tema 1: </a:t>
            </a:r>
          </a:p>
          <a:p>
            <a:pPr lvl="2"/>
            <a:r>
              <a:rPr lang="es-ES" dirty="0"/>
              <a:t>Actividad “Aplicando las 6Ds exponenciales”</a:t>
            </a:r>
          </a:p>
          <a:p>
            <a:pPr lvl="2"/>
            <a:r>
              <a:rPr lang="es-ES" dirty="0"/>
              <a:t>Evaluación 1</a:t>
            </a:r>
          </a:p>
          <a:p>
            <a:pPr lvl="1"/>
            <a:r>
              <a:rPr lang="es-ES" dirty="0"/>
              <a:t>Tema 2: Evaluación 2</a:t>
            </a:r>
          </a:p>
          <a:p>
            <a:pPr lvl="1"/>
            <a:r>
              <a:rPr lang="es-ES" dirty="0"/>
              <a:t>Tema 4: Evaluación 4</a:t>
            </a:r>
          </a:p>
          <a:p>
            <a:pPr lvl="1"/>
            <a:r>
              <a:rPr lang="es-ES" dirty="0"/>
              <a:t>Tema 5: Actividad “Segmentación de clientes”</a:t>
            </a:r>
          </a:p>
          <a:p>
            <a:pPr lvl="1"/>
            <a:r>
              <a:rPr lang="es-ES" dirty="0"/>
              <a:t>Tema 6: Evaluación 6</a:t>
            </a:r>
          </a:p>
          <a:p>
            <a:pPr lvl="1"/>
            <a:r>
              <a:rPr lang="es-ES" dirty="0"/>
              <a:t>Tema 7: Actividad “Explorando el mundo de la Inteligencia Artificial”</a:t>
            </a:r>
          </a:p>
          <a:p>
            <a:pPr lvl="1"/>
            <a:r>
              <a:rPr lang="es-ES" dirty="0"/>
              <a:t>Tema 9: Actividad “Reconocimiento de patrones”</a:t>
            </a:r>
          </a:p>
          <a:p>
            <a:endParaRPr lang="es-ES" dirty="0"/>
          </a:p>
        </p:txBody>
      </p:sp>
    </p:spTree>
    <p:extLst>
      <p:ext uri="{BB962C8B-B14F-4D97-AF65-F5344CB8AC3E}">
        <p14:creationId xmlns:p14="http://schemas.microsoft.com/office/powerpoint/2010/main" val="3702511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B35882-0A19-3616-0098-059D372082D5}"/>
              </a:ext>
            </a:extLst>
          </p:cNvPr>
          <p:cNvSpPr>
            <a:spLocks noGrp="1"/>
          </p:cNvSpPr>
          <p:nvPr>
            <p:ph type="title"/>
          </p:nvPr>
        </p:nvSpPr>
        <p:spPr>
          <a:xfrm>
            <a:off x="1418253" y="507699"/>
            <a:ext cx="10087947" cy="1022521"/>
          </a:xfrm>
        </p:spPr>
        <p:txBody>
          <a:bodyPr>
            <a:normAutofit/>
          </a:bodyPr>
          <a:lstStyle/>
          <a:p>
            <a:r>
              <a:rPr lang="es-ES" dirty="0" smtClean="0"/>
              <a:t>Supervivencia en el titanic</a:t>
            </a:r>
            <a:endParaRPr lang="es-ES" dirty="0"/>
          </a:p>
        </p:txBody>
      </p:sp>
      <p:pic>
        <p:nvPicPr>
          <p:cNvPr id="5" name="Marcador de contenido 4">
            <a:extLst>
              <a:ext uri="{FF2B5EF4-FFF2-40B4-BE49-F238E27FC236}">
                <a16:creationId xmlns:a16="http://schemas.microsoft.com/office/drawing/2014/main" id="{8C6189C8-93A4-C213-6A0D-400C3171CCFB}"/>
              </a:ext>
            </a:extLst>
          </p:cNvPr>
          <p:cNvPicPr>
            <a:picLocks noGrp="1" noChangeAspect="1"/>
          </p:cNvPicPr>
          <p:nvPr>
            <p:ph idx="1"/>
          </p:nvPr>
        </p:nvPicPr>
        <p:blipFill>
          <a:blip r:embed="rId3"/>
          <a:stretch>
            <a:fillRect/>
          </a:stretch>
        </p:blipFill>
        <p:spPr>
          <a:xfrm>
            <a:off x="1630524" y="2477947"/>
            <a:ext cx="9087355" cy="3253347"/>
          </a:xfrm>
          <a:prstGeom prst="rect">
            <a:avLst/>
          </a:prstGeom>
        </p:spPr>
      </p:pic>
      <p:sp>
        <p:nvSpPr>
          <p:cNvPr id="4" name="Marcador de contenido 2">
            <a:extLst>
              <a:ext uri="{FF2B5EF4-FFF2-40B4-BE49-F238E27FC236}">
                <a16:creationId xmlns:a16="http://schemas.microsoft.com/office/drawing/2014/main" id="{B0CA0862-1082-8178-7E06-BF08EFF54C3A}"/>
              </a:ext>
            </a:extLst>
          </p:cNvPr>
          <p:cNvSpPr txBox="1">
            <a:spLocks/>
          </p:cNvSpPr>
          <p:nvPr/>
        </p:nvSpPr>
        <p:spPr>
          <a:xfrm>
            <a:off x="1269624" y="1763486"/>
            <a:ext cx="10236575" cy="7144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r>
              <a:rPr lang="es-ES" dirty="0"/>
              <a:t>El proyecto consiste en </a:t>
            </a:r>
            <a:r>
              <a:rPr lang="es-ES" dirty="0" smtClean="0"/>
              <a:t>realizar una predicción de supervivencia en el Titanic.</a:t>
            </a:r>
            <a:endParaRPr lang="es-ES" dirty="0"/>
          </a:p>
        </p:txBody>
      </p:sp>
    </p:spTree>
    <p:extLst>
      <p:ext uri="{BB962C8B-B14F-4D97-AF65-F5344CB8AC3E}">
        <p14:creationId xmlns:p14="http://schemas.microsoft.com/office/powerpoint/2010/main" val="254493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884FC5-78C2-17E8-4D3D-D189F3D7A7A9}"/>
              </a:ext>
            </a:extLst>
          </p:cNvPr>
          <p:cNvSpPr>
            <a:spLocks noGrp="1"/>
          </p:cNvSpPr>
          <p:nvPr>
            <p:ph type="title"/>
          </p:nvPr>
        </p:nvSpPr>
        <p:spPr>
          <a:xfrm>
            <a:off x="1268963" y="653143"/>
            <a:ext cx="10237237" cy="930728"/>
          </a:xfrm>
        </p:spPr>
        <p:txBody>
          <a:bodyPr/>
          <a:lstStyle/>
          <a:p>
            <a:r>
              <a:rPr lang="es-ES" dirty="0" smtClean="0"/>
              <a:t>introducción</a:t>
            </a:r>
            <a:endParaRPr lang="es-ES" dirty="0"/>
          </a:p>
        </p:txBody>
      </p:sp>
      <p:sp>
        <p:nvSpPr>
          <p:cNvPr id="4" name="CuadroTexto 3"/>
          <p:cNvSpPr txBox="1"/>
          <p:nvPr/>
        </p:nvSpPr>
        <p:spPr>
          <a:xfrm>
            <a:off x="1268963" y="1776418"/>
            <a:ext cx="9671180" cy="4031873"/>
          </a:xfrm>
          <a:prstGeom prst="rect">
            <a:avLst/>
          </a:prstGeom>
          <a:noFill/>
        </p:spPr>
        <p:txBody>
          <a:bodyPr wrap="square" rtlCol="0">
            <a:spAutoFit/>
          </a:bodyPr>
          <a:lstStyle/>
          <a:p>
            <a:r>
              <a:rPr lang="es-ES" sz="2800" dirty="0" smtClean="0"/>
              <a:t>En </a:t>
            </a:r>
            <a:r>
              <a:rPr lang="es-ES" sz="2800" dirty="0"/>
              <a:t>este proyecto vamos a construir modelos de clasificación para predecir si un pasajero del Titanic sobrevivió o no, utilizando datos reales. Compararemos dos </a:t>
            </a:r>
            <a:r>
              <a:rPr lang="es-ES" sz="3200" dirty="0"/>
              <a:t>modelos</a:t>
            </a:r>
            <a:r>
              <a:rPr lang="es-ES" sz="2800" dirty="0"/>
              <a:t>: Random Forest y Regresión Logística</a:t>
            </a:r>
            <a:r>
              <a:rPr lang="es-ES" sz="2800" dirty="0" smtClean="0"/>
              <a:t>.</a:t>
            </a:r>
          </a:p>
          <a:p>
            <a:endParaRPr lang="es-ES" sz="2800" dirty="0"/>
          </a:p>
          <a:p>
            <a:r>
              <a:rPr lang="es-ES" sz="2800" dirty="0" smtClean="0"/>
              <a:t>En Python usaremos un dataset que ya viene precargado, en él tendremos información sobre los diferentes pasajeros del Titanic. Lo primero que tenemos que hacer ante un conjunto de datos es examinarlo.</a:t>
            </a:r>
            <a:endParaRPr lang="es-ES" sz="2800" dirty="0"/>
          </a:p>
        </p:txBody>
      </p:sp>
    </p:spTree>
    <p:extLst>
      <p:ext uri="{BB962C8B-B14F-4D97-AF65-F5344CB8AC3E}">
        <p14:creationId xmlns:p14="http://schemas.microsoft.com/office/powerpoint/2010/main" val="3073057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935" y="2425959"/>
            <a:ext cx="2817845" cy="989045"/>
          </a:xfrm>
        </p:spPr>
        <p:txBody>
          <a:bodyPr>
            <a:normAutofit fontScale="90000"/>
          </a:bodyPr>
          <a:lstStyle/>
          <a:p>
            <a:r>
              <a:rPr lang="es-ES" dirty="0" smtClean="0"/>
              <a:t>Exploramos el dataset</a:t>
            </a:r>
            <a:endParaRPr lang="es-ES" dirty="0"/>
          </a:p>
        </p:txBody>
      </p:sp>
      <p:pic>
        <p:nvPicPr>
          <p:cNvPr id="4" name="Imagen 3"/>
          <p:cNvPicPr>
            <a:picLocks noChangeAspect="1"/>
          </p:cNvPicPr>
          <p:nvPr/>
        </p:nvPicPr>
        <p:blipFill>
          <a:blip r:embed="rId2"/>
          <a:stretch>
            <a:fillRect/>
          </a:stretch>
        </p:blipFill>
        <p:spPr>
          <a:xfrm>
            <a:off x="3030046" y="298580"/>
            <a:ext cx="8017365" cy="6044951"/>
          </a:xfrm>
          <a:prstGeom prst="rect">
            <a:avLst/>
          </a:prstGeom>
        </p:spPr>
      </p:pic>
    </p:spTree>
    <p:extLst>
      <p:ext uri="{BB962C8B-B14F-4D97-AF65-F5344CB8AC3E}">
        <p14:creationId xmlns:p14="http://schemas.microsoft.com/office/powerpoint/2010/main" val="239413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39CC4E4-EF31-A9BD-A8BB-D8621720434A}"/>
              </a:ext>
            </a:extLst>
          </p:cNvPr>
          <p:cNvSpPr>
            <a:spLocks noGrp="1"/>
          </p:cNvSpPr>
          <p:nvPr>
            <p:ph type="title"/>
          </p:nvPr>
        </p:nvSpPr>
        <p:spPr/>
        <p:txBody>
          <a:bodyPr/>
          <a:lstStyle/>
          <a:p>
            <a:r>
              <a:rPr lang="es-ES" dirty="0"/>
              <a:t>Limpieza de los datos</a:t>
            </a:r>
          </a:p>
        </p:txBody>
      </p:sp>
      <p:sp>
        <p:nvSpPr>
          <p:cNvPr id="3" name="Marcador de contenido 2">
            <a:extLst>
              <a:ext uri="{FF2B5EF4-FFF2-40B4-BE49-F238E27FC236}">
                <a16:creationId xmlns:a16="http://schemas.microsoft.com/office/drawing/2014/main" id="{E9A03B8E-5413-8FA3-FB17-E214A991C6C2}"/>
              </a:ext>
            </a:extLst>
          </p:cNvPr>
          <p:cNvSpPr>
            <a:spLocks noGrp="1"/>
          </p:cNvSpPr>
          <p:nvPr>
            <p:ph idx="1"/>
          </p:nvPr>
        </p:nvSpPr>
        <p:spPr>
          <a:xfrm>
            <a:off x="1141412" y="1698171"/>
            <a:ext cx="9905999" cy="4292082"/>
          </a:xfrm>
        </p:spPr>
        <p:txBody>
          <a:bodyPr>
            <a:normAutofit/>
          </a:bodyPr>
          <a:lstStyle/>
          <a:p>
            <a:r>
              <a:rPr lang="es-ES" dirty="0"/>
              <a:t>Debemos asegurarnos de que todos los datos estén completos para poder entrenar al sistema.</a:t>
            </a:r>
          </a:p>
          <a:p>
            <a:r>
              <a:rPr lang="es-ES" dirty="0"/>
              <a:t>Los datos no siempre son correctos, puede haber: </a:t>
            </a:r>
          </a:p>
          <a:p>
            <a:pPr lvl="1"/>
            <a:r>
              <a:rPr lang="es-ES" dirty="0"/>
              <a:t>datos nulos</a:t>
            </a:r>
          </a:p>
          <a:p>
            <a:pPr lvl="1"/>
            <a:r>
              <a:rPr lang="es-ES" dirty="0"/>
              <a:t>Valores duplicados</a:t>
            </a:r>
          </a:p>
          <a:p>
            <a:pPr lvl="1"/>
            <a:r>
              <a:rPr lang="es-ES" dirty="0"/>
              <a:t>Incorrectos</a:t>
            </a:r>
          </a:p>
          <a:p>
            <a:pPr lvl="1"/>
            <a:r>
              <a:rPr lang="es-ES" dirty="0"/>
              <a:t>que signifiquen lo mismo y se hayan escrito de forma diferente (Zaragoza – ZGZ – zaragoza – ZARAGOZA…)</a:t>
            </a:r>
          </a:p>
          <a:p>
            <a:pPr lvl="1"/>
            <a:r>
              <a:rPr lang="es-ES" dirty="0"/>
              <a:t>Con diferentes unidades de medida (metros, kilómetros, millas, pulgadas…)</a:t>
            </a:r>
          </a:p>
          <a:p>
            <a:endParaRPr lang="es-ES" dirty="0"/>
          </a:p>
          <a:p>
            <a:endParaRPr lang="es-ES" dirty="0"/>
          </a:p>
        </p:txBody>
      </p:sp>
    </p:spTree>
    <p:extLst>
      <p:ext uri="{BB962C8B-B14F-4D97-AF65-F5344CB8AC3E}">
        <p14:creationId xmlns:p14="http://schemas.microsoft.com/office/powerpoint/2010/main" val="3897210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F0A91-BC26-9C77-AA2F-3D3C45035B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BA73CF-445B-2A7A-B777-1217447E0F78}"/>
              </a:ext>
            </a:extLst>
          </p:cNvPr>
          <p:cNvSpPr>
            <a:spLocks noGrp="1"/>
          </p:cNvSpPr>
          <p:nvPr>
            <p:ph type="title"/>
          </p:nvPr>
        </p:nvSpPr>
        <p:spPr>
          <a:xfrm>
            <a:off x="1458686" y="362143"/>
            <a:ext cx="4904792" cy="701547"/>
          </a:xfrm>
        </p:spPr>
        <p:txBody>
          <a:bodyPr/>
          <a:lstStyle/>
          <a:p>
            <a:r>
              <a:rPr lang="es-ES" dirty="0"/>
              <a:t>Limpieza de los datos</a:t>
            </a:r>
          </a:p>
        </p:txBody>
      </p:sp>
      <p:sp>
        <p:nvSpPr>
          <p:cNvPr id="3" name="Marcador de contenido 2">
            <a:extLst>
              <a:ext uri="{FF2B5EF4-FFF2-40B4-BE49-F238E27FC236}">
                <a16:creationId xmlns:a16="http://schemas.microsoft.com/office/drawing/2014/main" id="{3402FE09-4DE1-95FA-322D-7F3C91F9AE61}"/>
              </a:ext>
            </a:extLst>
          </p:cNvPr>
          <p:cNvSpPr>
            <a:spLocks noGrp="1"/>
          </p:cNvSpPr>
          <p:nvPr>
            <p:ph idx="1"/>
          </p:nvPr>
        </p:nvSpPr>
        <p:spPr>
          <a:xfrm>
            <a:off x="685799" y="1063690"/>
            <a:ext cx="8738119" cy="5400600"/>
          </a:xfrm>
        </p:spPr>
        <p:txBody>
          <a:bodyPr>
            <a:normAutofit fontScale="85000" lnSpcReduction="10000"/>
          </a:bodyPr>
          <a:lstStyle/>
          <a:p>
            <a:r>
              <a:rPr lang="es-ES" b="1" dirty="0"/>
              <a:t>Comprobamos si hay valores nulos (sin rellenar)</a:t>
            </a:r>
          </a:p>
          <a:p>
            <a:r>
              <a:rPr lang="es-ES" b="1" dirty="0" smtClean="0"/>
              <a:t>Variables que debemos </a:t>
            </a:r>
            <a:r>
              <a:rPr lang="es-ES" b="1" dirty="0"/>
              <a:t>eliminar</a:t>
            </a:r>
          </a:p>
          <a:p>
            <a:pPr lvl="1"/>
            <a:r>
              <a:rPr lang="es-ES" dirty="0" smtClean="0"/>
              <a:t>deck </a:t>
            </a:r>
            <a:r>
              <a:rPr lang="es-ES" dirty="0"/>
              <a:t>tiene muchos valores ausentes, así que la eliminaremos.</a:t>
            </a:r>
          </a:p>
          <a:p>
            <a:pPr lvl="1"/>
            <a:r>
              <a:rPr lang="es-ES" dirty="0" smtClean="0"/>
              <a:t>age </a:t>
            </a:r>
            <a:r>
              <a:rPr lang="es-ES" dirty="0"/>
              <a:t>también tiene bastantes valores faltantes, aunque podría ser relevante. Sin embargo, la haremos variable de intervalo.</a:t>
            </a:r>
          </a:p>
          <a:p>
            <a:pPr lvl="1"/>
            <a:r>
              <a:rPr lang="es-ES" dirty="0" smtClean="0"/>
              <a:t>embarked </a:t>
            </a:r>
            <a:r>
              <a:rPr lang="es-ES" dirty="0"/>
              <a:t>y embark_town no parecen relevantes, así que también las eliminaremos.</a:t>
            </a:r>
          </a:p>
          <a:p>
            <a:pPr lvl="1"/>
            <a:r>
              <a:rPr lang="es-ES" dirty="0" smtClean="0"/>
              <a:t>sex</a:t>
            </a:r>
            <a:r>
              <a:rPr lang="es-ES" dirty="0"/>
              <a:t>, who y adult_male indican información similar. Dejamos solo sex.</a:t>
            </a:r>
          </a:p>
          <a:p>
            <a:pPr lvl="1"/>
            <a:r>
              <a:rPr lang="es-ES" dirty="0" smtClean="0"/>
              <a:t>fare</a:t>
            </a:r>
            <a:r>
              <a:rPr lang="es-ES" dirty="0"/>
              <a:t>, es la tarifa que pagaron, pero en el fondo, está relacionada con la </a:t>
            </a:r>
            <a:r>
              <a:rPr lang="es-ES" dirty="0" smtClean="0"/>
              <a:t>clase del billete (primera clase, segunda clase o tercera clase), </a:t>
            </a:r>
            <a:r>
              <a:rPr lang="es-ES" dirty="0"/>
              <a:t>dejamos solo clase.</a:t>
            </a:r>
          </a:p>
          <a:p>
            <a:pPr lvl="1"/>
            <a:r>
              <a:rPr lang="es-ES" dirty="0" smtClean="0"/>
              <a:t>Class </a:t>
            </a:r>
            <a:r>
              <a:rPr lang="es-ES" dirty="0"/>
              <a:t>y pclass indican información similar, dejamos class</a:t>
            </a:r>
          </a:p>
          <a:p>
            <a:pPr lvl="1"/>
            <a:r>
              <a:rPr lang="es-ES" dirty="0" smtClean="0"/>
              <a:t>sibsp </a:t>
            </a:r>
            <a:r>
              <a:rPr lang="es-ES" dirty="0"/>
              <a:t>y parch son el número de hermanos y el número de padres o hijos, que están relacionadas con si viajaba solo o no (alone), dejaremos solo la variable alone.</a:t>
            </a:r>
          </a:p>
          <a:p>
            <a:pPr lvl="1"/>
            <a:r>
              <a:rPr lang="es-ES" dirty="0" smtClean="0"/>
              <a:t>alive </a:t>
            </a:r>
            <a:r>
              <a:rPr lang="es-ES" dirty="0"/>
              <a:t>está repetida, por lo que la ignoraremos</a:t>
            </a:r>
            <a:r>
              <a:rPr lang="es-ES" dirty="0" smtClean="0"/>
              <a:t>.</a:t>
            </a:r>
            <a:endParaRPr lang="es-ES" dirty="0"/>
          </a:p>
          <a:p>
            <a:r>
              <a:rPr lang="es-ES" b="1" dirty="0" smtClean="0"/>
              <a:t>Variable </a:t>
            </a:r>
            <a:r>
              <a:rPr lang="es-ES" b="1" dirty="0"/>
              <a:t>objetivo</a:t>
            </a:r>
          </a:p>
          <a:p>
            <a:pPr lvl="1"/>
            <a:r>
              <a:rPr lang="es-ES" dirty="0"/>
              <a:t>survived es nuestra variable objetivo de clasificación</a:t>
            </a:r>
            <a:r>
              <a:rPr lang="es-ES" dirty="0" smtClean="0"/>
              <a:t>.</a:t>
            </a:r>
            <a:endParaRPr lang="es-ES" dirty="0"/>
          </a:p>
        </p:txBody>
      </p:sp>
      <p:pic>
        <p:nvPicPr>
          <p:cNvPr id="4" name="Imagen 3"/>
          <p:cNvPicPr>
            <a:picLocks noChangeAspect="1"/>
          </p:cNvPicPr>
          <p:nvPr/>
        </p:nvPicPr>
        <p:blipFill>
          <a:blip r:embed="rId2"/>
          <a:stretch>
            <a:fillRect/>
          </a:stretch>
        </p:blipFill>
        <p:spPr>
          <a:xfrm>
            <a:off x="9583995" y="362143"/>
            <a:ext cx="1799351" cy="6102147"/>
          </a:xfrm>
          <a:prstGeom prst="rect">
            <a:avLst/>
          </a:prstGeom>
        </p:spPr>
      </p:pic>
    </p:spTree>
    <p:extLst>
      <p:ext uri="{BB962C8B-B14F-4D97-AF65-F5344CB8AC3E}">
        <p14:creationId xmlns:p14="http://schemas.microsoft.com/office/powerpoint/2010/main" val="1395035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F0A91-BC26-9C77-AA2F-3D3C45035B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BA73CF-445B-2A7A-B777-1217447E0F78}"/>
              </a:ext>
            </a:extLst>
          </p:cNvPr>
          <p:cNvSpPr>
            <a:spLocks noGrp="1"/>
          </p:cNvSpPr>
          <p:nvPr>
            <p:ph type="title"/>
          </p:nvPr>
        </p:nvSpPr>
        <p:spPr>
          <a:xfrm>
            <a:off x="1458686" y="362143"/>
            <a:ext cx="4904792" cy="701547"/>
          </a:xfrm>
        </p:spPr>
        <p:txBody>
          <a:bodyPr/>
          <a:lstStyle/>
          <a:p>
            <a:r>
              <a:rPr lang="es-ES" dirty="0"/>
              <a:t>Limpieza de los datos</a:t>
            </a:r>
          </a:p>
        </p:txBody>
      </p:sp>
      <p:sp>
        <p:nvSpPr>
          <p:cNvPr id="3" name="Marcador de contenido 2">
            <a:extLst>
              <a:ext uri="{FF2B5EF4-FFF2-40B4-BE49-F238E27FC236}">
                <a16:creationId xmlns:a16="http://schemas.microsoft.com/office/drawing/2014/main" id="{3402FE09-4DE1-95FA-322D-7F3C91F9AE61}"/>
              </a:ext>
            </a:extLst>
          </p:cNvPr>
          <p:cNvSpPr>
            <a:spLocks noGrp="1"/>
          </p:cNvSpPr>
          <p:nvPr>
            <p:ph idx="1"/>
          </p:nvPr>
        </p:nvSpPr>
        <p:spPr>
          <a:xfrm>
            <a:off x="989045" y="1063690"/>
            <a:ext cx="7576457" cy="5400600"/>
          </a:xfrm>
        </p:spPr>
        <p:txBody>
          <a:bodyPr>
            <a:normAutofit/>
          </a:bodyPr>
          <a:lstStyle/>
          <a:p>
            <a:r>
              <a:rPr lang="es-ES" dirty="0" smtClean="0"/>
              <a:t>Comprobamos si las clases están balanceadas, es decir, si hay un número similar de personas que sobrevivieron y que no sobrevivieron.</a:t>
            </a:r>
          </a:p>
          <a:p>
            <a:r>
              <a:rPr lang="es-ES" dirty="0" smtClean="0"/>
              <a:t>Comprobamos que no es así. Un 38% de personas sobrevivieron.</a:t>
            </a:r>
          </a:p>
          <a:p>
            <a:r>
              <a:rPr lang="es-ES" dirty="0" smtClean="0"/>
              <a:t>Esto implica que tendremos que indicar al algoritmo que lo tenga en cuenta.</a:t>
            </a:r>
          </a:p>
          <a:p>
            <a:r>
              <a:rPr lang="es-ES" dirty="0" smtClean="0"/>
              <a:t>Estratificar: Significa asegurarse que la proporción de clases se mantiene constante en cada subconjunto de datos. Esto evita que se sesgue hacia la clase mayoritaria.</a:t>
            </a:r>
            <a:endParaRPr lang="es-ES" dirty="0"/>
          </a:p>
        </p:txBody>
      </p:sp>
      <p:pic>
        <p:nvPicPr>
          <p:cNvPr id="5" name="Imagen 4"/>
          <p:cNvPicPr>
            <a:picLocks noChangeAspect="1"/>
          </p:cNvPicPr>
          <p:nvPr/>
        </p:nvPicPr>
        <p:blipFill>
          <a:blip r:embed="rId2"/>
          <a:stretch>
            <a:fillRect/>
          </a:stretch>
        </p:blipFill>
        <p:spPr>
          <a:xfrm>
            <a:off x="8891100" y="1990044"/>
            <a:ext cx="2454923" cy="2935234"/>
          </a:xfrm>
          <a:prstGeom prst="rect">
            <a:avLst/>
          </a:prstGeom>
        </p:spPr>
      </p:pic>
    </p:spTree>
    <p:extLst>
      <p:ext uri="{BB962C8B-B14F-4D97-AF65-F5344CB8AC3E}">
        <p14:creationId xmlns:p14="http://schemas.microsoft.com/office/powerpoint/2010/main" val="2885821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315AA-B49D-C266-74B1-AA92908F1CB4}"/>
              </a:ext>
            </a:extLst>
          </p:cNvPr>
          <p:cNvSpPr>
            <a:spLocks noGrp="1"/>
          </p:cNvSpPr>
          <p:nvPr>
            <p:ph type="title"/>
          </p:nvPr>
        </p:nvSpPr>
        <p:spPr>
          <a:xfrm>
            <a:off x="1141413" y="410547"/>
            <a:ext cx="9905998" cy="1089382"/>
          </a:xfrm>
        </p:spPr>
        <p:txBody>
          <a:bodyPr/>
          <a:lstStyle/>
          <a:p>
            <a:r>
              <a:rPr lang="es-ES" dirty="0" smtClean="0"/>
              <a:t>preprocesamiento</a:t>
            </a:r>
            <a:endParaRPr lang="es-ES" dirty="0"/>
          </a:p>
        </p:txBody>
      </p:sp>
      <p:sp>
        <p:nvSpPr>
          <p:cNvPr id="3" name="Marcador de contenido 2">
            <a:extLst>
              <a:ext uri="{FF2B5EF4-FFF2-40B4-BE49-F238E27FC236}">
                <a16:creationId xmlns:a16="http://schemas.microsoft.com/office/drawing/2014/main" id="{F694D96E-F087-B408-7BD5-8F02E594BAB2}"/>
              </a:ext>
            </a:extLst>
          </p:cNvPr>
          <p:cNvSpPr>
            <a:spLocks noGrp="1"/>
          </p:cNvSpPr>
          <p:nvPr>
            <p:ph idx="1"/>
          </p:nvPr>
        </p:nvSpPr>
        <p:spPr>
          <a:xfrm>
            <a:off x="1141412" y="1499930"/>
            <a:ext cx="9905999" cy="4291272"/>
          </a:xfrm>
        </p:spPr>
        <p:txBody>
          <a:bodyPr/>
          <a:lstStyle/>
          <a:p>
            <a:r>
              <a:rPr lang="es-ES" dirty="0" smtClean="0"/>
              <a:t>Tenemos que dividir los datos en 4 bloques:</a:t>
            </a:r>
          </a:p>
          <a:p>
            <a:pPr lvl="1"/>
            <a:r>
              <a:rPr lang="es-ES" dirty="0" smtClean="0"/>
              <a:t>X_train: Será el dataset con las variables independientes que nos ayuden a entrenar al algoritmo (80%)</a:t>
            </a:r>
          </a:p>
          <a:p>
            <a:pPr lvl="1"/>
            <a:r>
              <a:rPr lang="es-ES" dirty="0" smtClean="0"/>
              <a:t>X_test: Será el dataset con las variables independientes que nos permite comprobar el funcionamiento del algoritmo (20%)</a:t>
            </a:r>
          </a:p>
          <a:p>
            <a:pPr lvl="1"/>
            <a:r>
              <a:rPr lang="es-ES" dirty="0" smtClean="0"/>
              <a:t>Y_train: Será el dataset con la variable dependiente (sobrevive/no sobrevive) que nos ayude a entrenar al algoritmo (80%)</a:t>
            </a:r>
          </a:p>
          <a:p>
            <a:pPr lvl="1"/>
            <a:r>
              <a:rPr lang="es-ES" dirty="0" smtClean="0"/>
              <a:t>Y_test: Será el dataset con la variable dependiente (sobrevive/no sobrevive) que nos ayude a comprobar el funcionamiento del algoritmo (20%).</a:t>
            </a:r>
            <a:endParaRPr lang="es-ES" dirty="0"/>
          </a:p>
        </p:txBody>
      </p:sp>
    </p:spTree>
    <p:extLst>
      <p:ext uri="{BB962C8B-B14F-4D97-AF65-F5344CB8AC3E}">
        <p14:creationId xmlns:p14="http://schemas.microsoft.com/office/powerpoint/2010/main" val="1093056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618518"/>
            <a:ext cx="9905998" cy="1042331"/>
          </a:xfrm>
        </p:spPr>
        <p:txBody>
          <a:bodyPr/>
          <a:lstStyle/>
          <a:p>
            <a:r>
              <a:rPr lang="es-ES" dirty="0" smtClean="0"/>
              <a:t>PREPROCESAMIENTO</a:t>
            </a:r>
            <a:endParaRPr lang="es-ES" dirty="0"/>
          </a:p>
        </p:txBody>
      </p:sp>
      <p:sp>
        <p:nvSpPr>
          <p:cNvPr id="3" name="Marcador de contenido 2"/>
          <p:cNvSpPr>
            <a:spLocks noGrp="1"/>
          </p:cNvSpPr>
          <p:nvPr>
            <p:ph idx="1"/>
          </p:nvPr>
        </p:nvSpPr>
        <p:spPr>
          <a:xfrm>
            <a:off x="1141412" y="1660849"/>
            <a:ext cx="9905999" cy="4130352"/>
          </a:xfrm>
        </p:spPr>
        <p:txBody>
          <a:bodyPr>
            <a:normAutofit fontScale="92500"/>
          </a:bodyPr>
          <a:lstStyle/>
          <a:p>
            <a:r>
              <a:rPr lang="es-ES" dirty="0" smtClean="0"/>
              <a:t>Como había algunos datos faltantes, y tenemos variables categóricas:</a:t>
            </a:r>
          </a:p>
          <a:p>
            <a:pPr lvl="1"/>
            <a:r>
              <a:rPr lang="es-ES" dirty="0" smtClean="0"/>
              <a:t>Sexo: Male / Female</a:t>
            </a:r>
          </a:p>
          <a:p>
            <a:pPr lvl="1"/>
            <a:r>
              <a:rPr lang="es-ES" dirty="0" smtClean="0"/>
              <a:t>Age_group: Niño, Joven, Adulto, Mayor</a:t>
            </a:r>
          </a:p>
          <a:p>
            <a:pPr lvl="1"/>
            <a:r>
              <a:rPr lang="es-ES" dirty="0" smtClean="0"/>
              <a:t>Class: First, Second, Third</a:t>
            </a:r>
          </a:p>
          <a:p>
            <a:pPr lvl="1"/>
            <a:r>
              <a:rPr lang="es-ES" dirty="0" smtClean="0"/>
              <a:t>Alone: False / true</a:t>
            </a:r>
          </a:p>
          <a:p>
            <a:r>
              <a:rPr lang="es-ES" dirty="0" smtClean="0"/>
              <a:t>Vamos a rellenar los datos faltantes con la moda, que es el valor que más se repite. </a:t>
            </a:r>
          </a:p>
          <a:p>
            <a:r>
              <a:rPr lang="es-ES" dirty="0" smtClean="0"/>
              <a:t>Si fueran variables cuantitativas, podríamos rellenarlas con la mediana o la media.</a:t>
            </a:r>
          </a:p>
          <a:p>
            <a:r>
              <a:rPr lang="es-ES" dirty="0" smtClean="0"/>
              <a:t>Otra opción es eliminar esas filas.</a:t>
            </a:r>
          </a:p>
          <a:p>
            <a:pPr marL="457200" lvl="1" indent="0">
              <a:buNone/>
            </a:pPr>
            <a:endParaRPr lang="es-ES" dirty="0"/>
          </a:p>
        </p:txBody>
      </p:sp>
    </p:spTree>
    <p:extLst>
      <p:ext uri="{BB962C8B-B14F-4D97-AF65-F5344CB8AC3E}">
        <p14:creationId xmlns:p14="http://schemas.microsoft.com/office/powerpoint/2010/main" val="2414755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618518"/>
            <a:ext cx="9905998" cy="1172960"/>
          </a:xfrm>
        </p:spPr>
        <p:txBody>
          <a:bodyPr/>
          <a:lstStyle/>
          <a:p>
            <a:r>
              <a:rPr lang="es-ES" dirty="0" smtClean="0"/>
              <a:t>PREPROCESAMIENTO</a:t>
            </a:r>
            <a:endParaRPr lang="es-ES" dirty="0"/>
          </a:p>
        </p:txBody>
      </p:sp>
      <p:sp>
        <p:nvSpPr>
          <p:cNvPr id="3" name="Marcador de contenido 2"/>
          <p:cNvSpPr>
            <a:spLocks noGrp="1"/>
          </p:cNvSpPr>
          <p:nvPr>
            <p:ph idx="1"/>
          </p:nvPr>
        </p:nvSpPr>
        <p:spPr>
          <a:xfrm>
            <a:off x="1141412" y="1791478"/>
            <a:ext cx="9905999" cy="3999723"/>
          </a:xfrm>
        </p:spPr>
        <p:txBody>
          <a:bodyPr>
            <a:normAutofit fontScale="92500" lnSpcReduction="20000"/>
          </a:bodyPr>
          <a:lstStyle/>
          <a:p>
            <a:r>
              <a:rPr lang="es-ES" sz="2800" dirty="0" smtClean="0"/>
              <a:t>Convertimos las variables categóricas a formato binario, esto significa que ahora habrá una columna para cada opción: sex_male, sex_female, otra para class_First, class_Second, class_Third… y si ese pasajero cumple con esa característica, tendrá un 1, si no la cumple, un 0. Es necesario para entrenar los modelos.</a:t>
            </a:r>
          </a:p>
          <a:p>
            <a:r>
              <a:rPr lang="es-ES" sz="2800" dirty="0" smtClean="0"/>
              <a:t>Alineamos las columnas entre entrenamiento y prueba: Esto asegura que ambos conjuntos tengan las mismas variables. Por ejemplo, podría darse que en el entrenamiento, por azar, no hubiera ninguna persona mayor. Si luego sale en el test una persona mayor, generaría un error. </a:t>
            </a:r>
            <a:endParaRPr lang="es-ES" sz="2800" dirty="0"/>
          </a:p>
        </p:txBody>
      </p:sp>
    </p:spTree>
    <p:extLst>
      <p:ext uri="{BB962C8B-B14F-4D97-AF65-F5344CB8AC3E}">
        <p14:creationId xmlns:p14="http://schemas.microsoft.com/office/powerpoint/2010/main" val="2251231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3D421-488B-326D-C290-C775DED36E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325F14-79D7-63D7-79AF-1376C935373B}"/>
              </a:ext>
            </a:extLst>
          </p:cNvPr>
          <p:cNvSpPr>
            <a:spLocks noGrp="1"/>
          </p:cNvSpPr>
          <p:nvPr>
            <p:ph type="title"/>
          </p:nvPr>
        </p:nvSpPr>
        <p:spPr>
          <a:xfrm>
            <a:off x="1141413" y="618518"/>
            <a:ext cx="9905998" cy="1005009"/>
          </a:xfrm>
        </p:spPr>
        <p:txBody>
          <a:bodyPr/>
          <a:lstStyle/>
          <a:p>
            <a:r>
              <a:rPr lang="es-ES" dirty="0" smtClean="0"/>
              <a:t>Entrenamiento del modelo</a:t>
            </a:r>
            <a:endParaRPr lang="es-ES" dirty="0"/>
          </a:p>
        </p:txBody>
      </p:sp>
      <p:sp>
        <p:nvSpPr>
          <p:cNvPr id="3" name="Marcador de contenido 2">
            <a:extLst>
              <a:ext uri="{FF2B5EF4-FFF2-40B4-BE49-F238E27FC236}">
                <a16:creationId xmlns:a16="http://schemas.microsoft.com/office/drawing/2014/main" id="{8044BDAA-2A1C-51C8-DD01-94CC07DC9ECD}"/>
              </a:ext>
            </a:extLst>
          </p:cNvPr>
          <p:cNvSpPr>
            <a:spLocks noGrp="1"/>
          </p:cNvSpPr>
          <p:nvPr>
            <p:ph idx="1"/>
          </p:nvPr>
        </p:nvSpPr>
        <p:spPr>
          <a:xfrm>
            <a:off x="933061" y="1399592"/>
            <a:ext cx="10468947" cy="4819094"/>
          </a:xfrm>
        </p:spPr>
        <p:txBody>
          <a:bodyPr/>
          <a:lstStyle/>
          <a:p>
            <a:r>
              <a:rPr lang="es-ES" dirty="0" smtClean="0"/>
              <a:t>Vamos a empezar entrenando un Random Forest, un algoritmo supervisado que combina múltiples árboles de decisión.</a:t>
            </a:r>
          </a:p>
          <a:p>
            <a:endParaRPr lang="es-ES" dirty="0" smtClean="0"/>
          </a:p>
          <a:p>
            <a:endParaRPr lang="es-ES" dirty="0"/>
          </a:p>
          <a:p>
            <a:endParaRPr lang="es-ES" dirty="0" smtClean="0"/>
          </a:p>
          <a:p>
            <a:endParaRPr lang="es-ES" dirty="0"/>
          </a:p>
          <a:p>
            <a:r>
              <a:rPr lang="es-ES" dirty="0" smtClean="0"/>
              <a:t>Introducimos los datos de X_train_encoded y los de y_train. El algoritmo no puede ver los datos de test.</a:t>
            </a:r>
            <a:endParaRPr lang="es-ES" dirty="0"/>
          </a:p>
        </p:txBody>
      </p:sp>
      <p:pic>
        <p:nvPicPr>
          <p:cNvPr id="4" name="Imagen 3"/>
          <p:cNvPicPr>
            <a:picLocks noChangeAspect="1"/>
          </p:cNvPicPr>
          <p:nvPr/>
        </p:nvPicPr>
        <p:blipFill>
          <a:blip r:embed="rId2"/>
          <a:stretch>
            <a:fillRect/>
          </a:stretch>
        </p:blipFill>
        <p:spPr>
          <a:xfrm>
            <a:off x="1141413" y="2404601"/>
            <a:ext cx="6735762" cy="2215237"/>
          </a:xfrm>
          <a:prstGeom prst="rect">
            <a:avLst/>
          </a:prstGeom>
        </p:spPr>
      </p:pic>
    </p:spTree>
    <p:extLst>
      <p:ext uri="{BB962C8B-B14F-4D97-AF65-F5344CB8AC3E}">
        <p14:creationId xmlns:p14="http://schemas.microsoft.com/office/powerpoint/2010/main" val="800619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1984-4871-FDD7-0C7B-ADE4075DD67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D4149B-AF77-243F-DE85-5725E4BE0A8A}"/>
              </a:ext>
            </a:extLst>
          </p:cNvPr>
          <p:cNvSpPr>
            <a:spLocks noGrp="1"/>
          </p:cNvSpPr>
          <p:nvPr>
            <p:ph type="title"/>
          </p:nvPr>
        </p:nvSpPr>
        <p:spPr>
          <a:xfrm>
            <a:off x="1141413" y="503854"/>
            <a:ext cx="9905998" cy="727788"/>
          </a:xfrm>
        </p:spPr>
        <p:txBody>
          <a:bodyPr/>
          <a:lstStyle/>
          <a:p>
            <a:r>
              <a:rPr lang="es-ES" dirty="0" smtClean="0"/>
              <a:t>Hacemos predicciones con test</a:t>
            </a:r>
            <a:endParaRPr lang="es-ES" dirty="0"/>
          </a:p>
        </p:txBody>
      </p:sp>
      <p:sp>
        <p:nvSpPr>
          <p:cNvPr id="3" name="Marcador de contenido 2">
            <a:extLst>
              <a:ext uri="{FF2B5EF4-FFF2-40B4-BE49-F238E27FC236}">
                <a16:creationId xmlns:a16="http://schemas.microsoft.com/office/drawing/2014/main" id="{E7A840EE-4FBB-E158-5F67-E8797082466C}"/>
              </a:ext>
            </a:extLst>
          </p:cNvPr>
          <p:cNvSpPr>
            <a:spLocks noGrp="1"/>
          </p:cNvSpPr>
          <p:nvPr>
            <p:ph idx="1"/>
          </p:nvPr>
        </p:nvSpPr>
        <p:spPr>
          <a:xfrm>
            <a:off x="970385" y="1231642"/>
            <a:ext cx="3937518" cy="4987044"/>
          </a:xfrm>
        </p:spPr>
        <p:txBody>
          <a:bodyPr>
            <a:normAutofit fontScale="85000" lnSpcReduction="10000"/>
          </a:bodyPr>
          <a:lstStyle/>
          <a:p>
            <a:pPr marL="0" indent="0">
              <a:buNone/>
            </a:pPr>
            <a:r>
              <a:rPr lang="es-ES" dirty="0" smtClean="0"/>
              <a:t>Ahora, usaremos el modelo ya entrenado para realizar la predicción. Como tenemos etiquetas de estos datos de test, realizaremos métricas comparando lo que predice y lo que era realmente.</a:t>
            </a:r>
          </a:p>
          <a:p>
            <a:pPr marL="0" indent="0">
              <a:buNone/>
            </a:pPr>
            <a:r>
              <a:rPr lang="es-ES" dirty="0" smtClean="0"/>
              <a:t>También podemos dibujar una matriz de confusión, que permite ver los aciertos y fallos. </a:t>
            </a:r>
          </a:p>
          <a:p>
            <a:pPr marL="0" indent="0">
              <a:buNone/>
            </a:pPr>
            <a:r>
              <a:rPr lang="es-ES" dirty="0" smtClean="0"/>
              <a:t>Ha </a:t>
            </a:r>
            <a:r>
              <a:rPr lang="es-ES" dirty="0"/>
              <a:t>clasificado incorrectamente un 21% de los 179 casos reservados para el test (20% de los </a:t>
            </a:r>
            <a:r>
              <a:rPr lang="es-ES" dirty="0" smtClean="0"/>
              <a:t>891 pasajeros</a:t>
            </a:r>
            <a:r>
              <a:rPr lang="es-ES" dirty="0"/>
              <a:t>).</a:t>
            </a:r>
          </a:p>
          <a:p>
            <a:pPr marL="0" indent="0">
              <a:buNone/>
            </a:pPr>
            <a:endParaRPr lang="es-ES" dirty="0" smtClean="0"/>
          </a:p>
        </p:txBody>
      </p:sp>
      <p:pic>
        <p:nvPicPr>
          <p:cNvPr id="6" name="Imagen 5"/>
          <p:cNvPicPr>
            <a:picLocks noChangeAspect="1"/>
          </p:cNvPicPr>
          <p:nvPr/>
        </p:nvPicPr>
        <p:blipFill rotWithShape="1">
          <a:blip r:embed="rId2"/>
          <a:srcRect l="1143"/>
          <a:stretch/>
        </p:blipFill>
        <p:spPr>
          <a:xfrm>
            <a:off x="4907902" y="1231642"/>
            <a:ext cx="6454446" cy="4987044"/>
          </a:xfrm>
          <a:prstGeom prst="rect">
            <a:avLst/>
          </a:prstGeom>
        </p:spPr>
      </p:pic>
    </p:spTree>
    <p:extLst>
      <p:ext uri="{BB962C8B-B14F-4D97-AF65-F5344CB8AC3E}">
        <p14:creationId xmlns:p14="http://schemas.microsoft.com/office/powerpoint/2010/main" val="2378179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314061" y="628650"/>
            <a:ext cx="9853126" cy="5712794"/>
          </a:xfrm>
          <a:prstGeom prst="rect">
            <a:avLst/>
          </a:prstGeom>
        </p:spPr>
      </p:pic>
    </p:spTree>
    <p:extLst>
      <p:ext uri="{BB962C8B-B14F-4D97-AF65-F5344CB8AC3E}">
        <p14:creationId xmlns:p14="http://schemas.microsoft.com/office/powerpoint/2010/main" val="3432894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2" y="618518"/>
            <a:ext cx="9905999" cy="1116975"/>
          </a:xfrm>
        </p:spPr>
        <p:txBody>
          <a:bodyPr/>
          <a:lstStyle/>
          <a:p>
            <a:r>
              <a:rPr lang="es-ES" dirty="0" smtClean="0"/>
              <a:t>Interpretación de los resultados</a:t>
            </a:r>
            <a:endParaRPr lang="es-ES" dirty="0"/>
          </a:p>
        </p:txBody>
      </p:sp>
      <p:sp>
        <p:nvSpPr>
          <p:cNvPr id="3" name="Marcador de contenido 2"/>
          <p:cNvSpPr>
            <a:spLocks noGrp="1"/>
          </p:cNvSpPr>
          <p:nvPr>
            <p:ph idx="1"/>
          </p:nvPr>
        </p:nvSpPr>
        <p:spPr>
          <a:xfrm>
            <a:off x="1141412" y="1884784"/>
            <a:ext cx="9905999" cy="3906416"/>
          </a:xfrm>
        </p:spPr>
        <p:txBody>
          <a:bodyPr>
            <a:normAutofit/>
          </a:bodyPr>
          <a:lstStyle/>
          <a:p>
            <a:r>
              <a:rPr lang="es-ES" sz="2800" dirty="0" smtClean="0"/>
              <a:t>No hay </a:t>
            </a:r>
            <a:r>
              <a:rPr lang="es-ES" sz="2800" dirty="0"/>
              <a:t>duda de que la variable 'sex' tiene información significativa, parece la más relevante, seguida de 'class' y luego </a:t>
            </a:r>
            <a:r>
              <a:rPr lang="es-ES" sz="2800" dirty="0" smtClean="0"/>
              <a:t>'age_group‘. Si </a:t>
            </a:r>
            <a:r>
              <a:rPr lang="es-ES" sz="2800" dirty="0"/>
              <a:t>viajaban solos o no, también tiene relevancia, pero menor</a:t>
            </a:r>
            <a:r>
              <a:rPr lang="es-ES" sz="2800" dirty="0" smtClean="0"/>
              <a:t>.</a:t>
            </a:r>
          </a:p>
          <a:p>
            <a:r>
              <a:rPr lang="es-ES" sz="2800" dirty="0" smtClean="0"/>
              <a:t>Sin embargo, sabemos que son relevantes, pero no si lo son para bien (sobrevivir) o para mal (no sobrevivir).</a:t>
            </a:r>
            <a:endParaRPr lang="es-ES" sz="2800" dirty="0"/>
          </a:p>
        </p:txBody>
      </p:sp>
    </p:spTree>
    <p:extLst>
      <p:ext uri="{BB962C8B-B14F-4D97-AF65-F5344CB8AC3E}">
        <p14:creationId xmlns:p14="http://schemas.microsoft.com/office/powerpoint/2010/main" val="1671128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618518"/>
            <a:ext cx="9905998" cy="893041"/>
          </a:xfrm>
        </p:spPr>
        <p:txBody>
          <a:bodyPr>
            <a:normAutofit/>
          </a:bodyPr>
          <a:lstStyle/>
          <a:p>
            <a:r>
              <a:rPr lang="es-ES" dirty="0" smtClean="0"/>
              <a:t>Regresión logística</a:t>
            </a:r>
            <a:endParaRPr lang="es-ES" dirty="0"/>
          </a:p>
        </p:txBody>
      </p:sp>
      <p:sp>
        <p:nvSpPr>
          <p:cNvPr id="3" name="Marcador de contenido 2"/>
          <p:cNvSpPr>
            <a:spLocks noGrp="1"/>
          </p:cNvSpPr>
          <p:nvPr>
            <p:ph idx="1"/>
          </p:nvPr>
        </p:nvSpPr>
        <p:spPr>
          <a:xfrm>
            <a:off x="1141412" y="2127379"/>
            <a:ext cx="9905999" cy="3663821"/>
          </a:xfrm>
        </p:spPr>
        <p:txBody>
          <a:bodyPr/>
          <a:lstStyle/>
          <a:p>
            <a:r>
              <a:rPr lang="es-ES" sz="2800" dirty="0"/>
              <a:t>REALIZAMOS LOS MISMOS PASOS CON REGRESIÓN LOGÍSTICA (desde el entrenamiento</a:t>
            </a:r>
            <a:r>
              <a:rPr lang="es-ES" sz="2800" dirty="0" smtClean="0"/>
              <a:t>). </a:t>
            </a:r>
          </a:p>
          <a:p>
            <a:r>
              <a:rPr lang="es-ES" sz="2800" dirty="0" smtClean="0"/>
              <a:t>La regresión logística es un algoritmo de clasificación cuando la variable dependiente solo tiene dos opciones, tiene la característica o no la tiene (en este caso: vivo sí, vivo no).</a:t>
            </a:r>
            <a:endParaRPr lang="es-ES" sz="2800" dirty="0"/>
          </a:p>
          <a:p>
            <a:endParaRPr lang="es-ES" dirty="0"/>
          </a:p>
        </p:txBody>
      </p:sp>
    </p:spTree>
    <p:extLst>
      <p:ext uri="{BB962C8B-B14F-4D97-AF65-F5344CB8AC3E}">
        <p14:creationId xmlns:p14="http://schemas.microsoft.com/office/powerpoint/2010/main" val="3947822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618517"/>
            <a:ext cx="4139714" cy="1284927"/>
          </a:xfrm>
        </p:spPr>
        <p:txBody>
          <a:bodyPr>
            <a:normAutofit/>
          </a:bodyPr>
          <a:lstStyle/>
          <a:p>
            <a:r>
              <a:rPr lang="es-ES" dirty="0" smtClean="0"/>
              <a:t>Matriz de confusión</a:t>
            </a:r>
            <a:endParaRPr lang="es-ES" dirty="0"/>
          </a:p>
        </p:txBody>
      </p:sp>
      <p:sp>
        <p:nvSpPr>
          <p:cNvPr id="3" name="Marcador de contenido 2"/>
          <p:cNvSpPr>
            <a:spLocks noGrp="1"/>
          </p:cNvSpPr>
          <p:nvPr>
            <p:ph idx="1"/>
          </p:nvPr>
        </p:nvSpPr>
        <p:spPr>
          <a:xfrm>
            <a:off x="1141413" y="1903445"/>
            <a:ext cx="2796105" cy="3887756"/>
          </a:xfrm>
        </p:spPr>
        <p:txBody>
          <a:bodyPr/>
          <a:lstStyle/>
          <a:p>
            <a:r>
              <a:rPr lang="es-ES" dirty="0"/>
              <a:t>Los resultados empeoran a la hora de clasificar la no supervivencia, pero mejoran en la supervivencia.</a:t>
            </a:r>
          </a:p>
        </p:txBody>
      </p:sp>
      <p:pic>
        <p:nvPicPr>
          <p:cNvPr id="4" name="Imagen 3"/>
          <p:cNvPicPr>
            <a:picLocks noChangeAspect="1"/>
          </p:cNvPicPr>
          <p:nvPr/>
        </p:nvPicPr>
        <p:blipFill>
          <a:blip r:embed="rId2"/>
          <a:stretch>
            <a:fillRect/>
          </a:stretch>
        </p:blipFill>
        <p:spPr>
          <a:xfrm>
            <a:off x="4068146" y="618517"/>
            <a:ext cx="7168279" cy="5660469"/>
          </a:xfrm>
          <a:prstGeom prst="rect">
            <a:avLst/>
          </a:prstGeom>
        </p:spPr>
      </p:pic>
    </p:spTree>
    <p:extLst>
      <p:ext uri="{BB962C8B-B14F-4D97-AF65-F5344CB8AC3E}">
        <p14:creationId xmlns:p14="http://schemas.microsoft.com/office/powerpoint/2010/main" val="1962234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Comparativa de las matrices de confusión</a:t>
            </a:r>
            <a:endParaRPr lang="es-ES" dirty="0"/>
          </a:p>
        </p:txBody>
      </p:sp>
      <p:pic>
        <p:nvPicPr>
          <p:cNvPr id="4" name="Imagen 3"/>
          <p:cNvPicPr>
            <a:picLocks noChangeAspect="1"/>
          </p:cNvPicPr>
          <p:nvPr/>
        </p:nvPicPr>
        <p:blipFill>
          <a:blip r:embed="rId2"/>
          <a:stretch>
            <a:fillRect/>
          </a:stretch>
        </p:blipFill>
        <p:spPr>
          <a:xfrm>
            <a:off x="521093" y="2129472"/>
            <a:ext cx="11174900" cy="1956436"/>
          </a:xfrm>
          <a:prstGeom prst="rect">
            <a:avLst/>
          </a:prstGeom>
        </p:spPr>
      </p:pic>
      <p:sp>
        <p:nvSpPr>
          <p:cNvPr id="5" name="CuadroTexto 4"/>
          <p:cNvSpPr txBox="1"/>
          <p:nvPr/>
        </p:nvSpPr>
        <p:spPr>
          <a:xfrm>
            <a:off x="1394460" y="4343400"/>
            <a:ext cx="9921240" cy="1938992"/>
          </a:xfrm>
          <a:prstGeom prst="rect">
            <a:avLst/>
          </a:prstGeom>
          <a:noFill/>
        </p:spPr>
        <p:txBody>
          <a:bodyPr wrap="square" rtlCol="0">
            <a:spAutoFit/>
          </a:bodyPr>
          <a:lstStyle/>
          <a:p>
            <a:r>
              <a:rPr lang="es-ES" sz="2400" dirty="0"/>
              <a:t>Random Forest ha clasificado incorrectamente un 21% de los 179 casos reservados para el test (20% de los 891 pasajeros).</a:t>
            </a:r>
          </a:p>
          <a:p>
            <a:endParaRPr lang="es-ES" sz="2400" dirty="0"/>
          </a:p>
          <a:p>
            <a:r>
              <a:rPr lang="es-ES" sz="2400" dirty="0"/>
              <a:t>Regresión Logística ha clasificado incorrectamente un 22% de los 179 casos reservados para el test (20% de los 891 pasajeros)</a:t>
            </a:r>
          </a:p>
        </p:txBody>
      </p:sp>
    </p:spTree>
    <p:extLst>
      <p:ext uri="{BB962C8B-B14F-4D97-AF65-F5344CB8AC3E}">
        <p14:creationId xmlns:p14="http://schemas.microsoft.com/office/powerpoint/2010/main" val="19473650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3000" y="370377"/>
            <a:ext cx="10149840" cy="739285"/>
          </a:xfrm>
        </p:spPr>
        <p:txBody>
          <a:bodyPr/>
          <a:lstStyle/>
          <a:p>
            <a:r>
              <a:rPr lang="es-ES" dirty="0" smtClean="0"/>
              <a:t>coeficientes de las Variables en r. logística</a:t>
            </a:r>
            <a:endParaRPr lang="es-ES" dirty="0"/>
          </a:p>
        </p:txBody>
      </p:sp>
      <p:pic>
        <p:nvPicPr>
          <p:cNvPr id="4" name="Imagen 3"/>
          <p:cNvPicPr>
            <a:picLocks noChangeAspect="1"/>
          </p:cNvPicPr>
          <p:nvPr/>
        </p:nvPicPr>
        <p:blipFill>
          <a:blip r:embed="rId2"/>
          <a:stretch>
            <a:fillRect/>
          </a:stretch>
        </p:blipFill>
        <p:spPr>
          <a:xfrm>
            <a:off x="1639392" y="1109662"/>
            <a:ext cx="9157056" cy="5405438"/>
          </a:xfrm>
          <a:prstGeom prst="rect">
            <a:avLst/>
          </a:prstGeom>
        </p:spPr>
      </p:pic>
    </p:spTree>
    <p:extLst>
      <p:ext uri="{BB962C8B-B14F-4D97-AF65-F5344CB8AC3E}">
        <p14:creationId xmlns:p14="http://schemas.microsoft.com/office/powerpoint/2010/main" val="586117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434340"/>
            <a:ext cx="9905998" cy="1005840"/>
          </a:xfrm>
        </p:spPr>
        <p:txBody>
          <a:bodyPr/>
          <a:lstStyle/>
          <a:p>
            <a:r>
              <a:rPr lang="es-ES" dirty="0" smtClean="0"/>
              <a:t>Coeficientes de las variables en R. logística</a:t>
            </a:r>
            <a:endParaRPr lang="es-ES" dirty="0"/>
          </a:p>
        </p:txBody>
      </p:sp>
      <p:sp>
        <p:nvSpPr>
          <p:cNvPr id="3" name="Marcador de contenido 2"/>
          <p:cNvSpPr>
            <a:spLocks noGrp="1"/>
          </p:cNvSpPr>
          <p:nvPr>
            <p:ph idx="1"/>
          </p:nvPr>
        </p:nvSpPr>
        <p:spPr>
          <a:xfrm>
            <a:off x="914400" y="1211580"/>
            <a:ext cx="10332720" cy="4960620"/>
          </a:xfrm>
        </p:spPr>
        <p:txBody>
          <a:bodyPr>
            <a:normAutofit fontScale="92500" lnSpcReduction="10000"/>
          </a:bodyPr>
          <a:lstStyle/>
          <a:p>
            <a:r>
              <a:rPr lang="es-ES" dirty="0"/>
              <a:t>Las variables con coeficientes negativos como sex_male y class_Third están asociadas a menor probabilidad de supervivencia. Esto indica que el modelo está aprendiendo correctamente los patrones históricos del </a:t>
            </a:r>
            <a:r>
              <a:rPr lang="es-ES" dirty="0" smtClean="0"/>
              <a:t>desastre (sin habérselo explicado).</a:t>
            </a:r>
            <a:endParaRPr lang="es-ES" dirty="0"/>
          </a:p>
          <a:p>
            <a:r>
              <a:rPr lang="es-ES" dirty="0"/>
              <a:t>Los coeficientes positivos indican que al aumentar esa variable, aumenta la probabilidad de supervivencia. Los negativos indican lo contrario. Por ejemplo, ser hombre (sex_male) o viajar en tercera clase (class_Third) reduce la probabilidad de sobrevivir. Sin embargo, ser mujer (sex_female), viajar en primera clase (class_First) y ser niño (age_group_niño) fueron clave para </a:t>
            </a:r>
            <a:r>
              <a:rPr lang="es-ES" dirty="0" smtClean="0"/>
              <a:t>sobrevivir a este desastre.</a:t>
            </a:r>
            <a:endParaRPr lang="es-ES" dirty="0"/>
          </a:p>
          <a:p>
            <a:r>
              <a:rPr lang="es-ES" dirty="0"/>
              <a:t>Random Forest no tenía coeficientes como la regresión logística. En su lugar, habíamos calculado la importancia de cada variable según cuánto mejora la calidad de las divisiones en los </a:t>
            </a:r>
            <a:r>
              <a:rPr lang="es-ES" dirty="0" smtClean="0"/>
              <a:t>árboles, pero </a:t>
            </a:r>
            <a:r>
              <a:rPr lang="es-ES" dirty="0"/>
              <a:t>no se puede saber si una variable aumenta o disminuye la probabilidad de supervivencia, solo cuánto influye en la decisión.</a:t>
            </a:r>
          </a:p>
        </p:txBody>
      </p:sp>
    </p:spTree>
    <p:extLst>
      <p:ext uri="{BB962C8B-B14F-4D97-AF65-F5344CB8AC3E}">
        <p14:creationId xmlns:p14="http://schemas.microsoft.com/office/powerpoint/2010/main" val="40143318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618518"/>
            <a:ext cx="9905998" cy="798802"/>
          </a:xfrm>
        </p:spPr>
        <p:txBody>
          <a:bodyPr/>
          <a:lstStyle/>
          <a:p>
            <a:r>
              <a:rPr lang="es-ES" dirty="0" smtClean="0"/>
              <a:t>Aplicación del modelo a nuevos datos</a:t>
            </a:r>
            <a:endParaRPr lang="es-ES" dirty="0"/>
          </a:p>
        </p:txBody>
      </p:sp>
      <p:sp>
        <p:nvSpPr>
          <p:cNvPr id="3" name="Marcador de contenido 2"/>
          <p:cNvSpPr>
            <a:spLocks noGrp="1"/>
          </p:cNvSpPr>
          <p:nvPr>
            <p:ph idx="1"/>
          </p:nvPr>
        </p:nvSpPr>
        <p:spPr>
          <a:xfrm>
            <a:off x="1141412" y="1417320"/>
            <a:ext cx="9905999" cy="4373881"/>
          </a:xfrm>
        </p:spPr>
        <p:txBody>
          <a:bodyPr>
            <a:normAutofit/>
          </a:bodyPr>
          <a:lstStyle/>
          <a:p>
            <a:r>
              <a:rPr lang="es-ES" sz="3200" dirty="0" smtClean="0"/>
              <a:t>Hemos inventado un nuevo dataframe (nuevos pasajeros) y vamos a ver qué decide sobre ellos.</a:t>
            </a:r>
          </a:p>
          <a:p>
            <a:r>
              <a:rPr lang="es-ES" sz="3200" dirty="0" smtClean="0"/>
              <a:t>Para ello, tenemos que realizar el mismo preprocesamiento que antes a los datos.</a:t>
            </a:r>
          </a:p>
          <a:p>
            <a:r>
              <a:rPr lang="es-ES" sz="3200" dirty="0" smtClean="0"/>
              <a:t>Tenemos 15 nuevos pasajeros a bordo del Titanic… ¿Quién sobrevivirá?</a:t>
            </a:r>
            <a:endParaRPr lang="es-ES" sz="3200" dirty="0"/>
          </a:p>
        </p:txBody>
      </p:sp>
    </p:spTree>
    <p:extLst>
      <p:ext uri="{BB962C8B-B14F-4D97-AF65-F5344CB8AC3E}">
        <p14:creationId xmlns:p14="http://schemas.microsoft.com/office/powerpoint/2010/main" val="2814611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263192" y="388620"/>
            <a:ext cx="9963516" cy="6012180"/>
          </a:xfrm>
          <a:prstGeom prst="rect">
            <a:avLst/>
          </a:prstGeom>
        </p:spPr>
      </p:pic>
    </p:spTree>
    <p:extLst>
      <p:ext uri="{BB962C8B-B14F-4D97-AF65-F5344CB8AC3E}">
        <p14:creationId xmlns:p14="http://schemas.microsoft.com/office/powerpoint/2010/main" val="613966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1413" y="310242"/>
            <a:ext cx="9905998" cy="1355271"/>
          </a:xfrm>
        </p:spPr>
        <p:txBody>
          <a:bodyPr/>
          <a:lstStyle/>
          <a:p>
            <a:r>
              <a:rPr lang="es-ES" dirty="0" smtClean="0"/>
              <a:t>¿Podemos saber si las predicciones del nuevo dataset son correctas?</a:t>
            </a:r>
            <a:endParaRPr lang="es-ES" dirty="0"/>
          </a:p>
        </p:txBody>
      </p:sp>
      <p:sp>
        <p:nvSpPr>
          <p:cNvPr id="3" name="Marcador de contenido 2"/>
          <p:cNvSpPr>
            <a:spLocks noGrp="1"/>
          </p:cNvSpPr>
          <p:nvPr>
            <p:ph idx="1"/>
          </p:nvPr>
        </p:nvSpPr>
        <p:spPr>
          <a:xfrm>
            <a:off x="1141413" y="1665514"/>
            <a:ext cx="10304915" cy="3929745"/>
          </a:xfrm>
        </p:spPr>
        <p:txBody>
          <a:bodyPr>
            <a:noAutofit/>
          </a:bodyPr>
          <a:lstStyle/>
          <a:p>
            <a:r>
              <a:rPr lang="es-ES" sz="2500" dirty="0" smtClean="0"/>
              <a:t>En este caso, no.</a:t>
            </a:r>
          </a:p>
          <a:p>
            <a:r>
              <a:rPr lang="es-ES" sz="2500" dirty="0"/>
              <a:t>Podemos observar que el modelo predice mayor supervivencia en mujeres, niños y pasajeros de primera clase, lo cual coincide con los patrones históricos del desastre</a:t>
            </a:r>
            <a:r>
              <a:rPr lang="es-ES" sz="2500" dirty="0" smtClean="0"/>
              <a:t>. </a:t>
            </a:r>
          </a:p>
          <a:p>
            <a:r>
              <a:rPr lang="es-ES" sz="2500" dirty="0" smtClean="0"/>
              <a:t>Obviamente</a:t>
            </a:r>
            <a:r>
              <a:rPr lang="es-ES" sz="2500" dirty="0" smtClean="0"/>
              <a:t>, no sería ético reproducir la catástrofe para comprobarlo.</a:t>
            </a:r>
          </a:p>
          <a:p>
            <a:r>
              <a:rPr lang="es-ES" sz="2500" dirty="0" smtClean="0"/>
              <a:t>En otras ocasiones, por ejemplo, el funcionamiento de un medicamento, a posteriori se puede registrar si ha funcionado o no, e ir mejorando el Algoritmo más y más con los nuevos datos. Sin embargo, siempre tenemos que considerar las implicaciones éticas de nuestras investigaciones.</a:t>
            </a:r>
            <a:endParaRPr lang="es-ES" sz="2500" dirty="0"/>
          </a:p>
        </p:txBody>
      </p:sp>
    </p:spTree>
    <p:extLst>
      <p:ext uri="{BB962C8B-B14F-4D97-AF65-F5344CB8AC3E}">
        <p14:creationId xmlns:p14="http://schemas.microsoft.com/office/powerpoint/2010/main" val="4067967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o">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o">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o">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c7b933a-14fe-476f-887c-7887b29198b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9E46E012CDDA0A4C813C59E9BE02F8FE" ma:contentTypeVersion="10" ma:contentTypeDescription="Crear nuevo documento." ma:contentTypeScope="" ma:versionID="7c8728fbedcba7e9d3cc35d5bbf1c933">
  <xsd:schema xmlns:xsd="http://www.w3.org/2001/XMLSchema" xmlns:xs="http://www.w3.org/2001/XMLSchema" xmlns:p="http://schemas.microsoft.com/office/2006/metadata/properties" xmlns:ns3="8c7b933a-14fe-476f-887c-7887b29198bd" targetNamespace="http://schemas.microsoft.com/office/2006/metadata/properties" ma:root="true" ma:fieldsID="ca1916dea3869fa6858bcf7a8009570d" ns3:_="">
    <xsd:import namespace="8c7b933a-14fe-476f-887c-7887b29198bd"/>
    <xsd:element name="properties">
      <xsd:complexType>
        <xsd:sequence>
          <xsd:element name="documentManagement">
            <xsd:complexType>
              <xsd:all>
                <xsd:element ref="ns3:_activity" minOccurs="0"/>
                <xsd:element ref="ns3:MediaServiceMetadata" minOccurs="0"/>
                <xsd:element ref="ns3:MediaServiceFastMetadata" minOccurs="0"/>
                <xsd:element ref="ns3:MediaServiceObjectDetectorVersions" minOccurs="0"/>
                <xsd:element ref="ns3:MediaServiceDateTaken"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b933a-14fe-476f-887c-7887b29198bd"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8BF9746-CDB9-4EEB-8EAE-0EB80F59D52B}">
  <ds:schemaRefs>
    <ds:schemaRef ds:uri="http://purl.org/dc/dcmitype/"/>
    <ds:schemaRef ds:uri="8c7b933a-14fe-476f-887c-7887b29198bd"/>
    <ds:schemaRef ds:uri="http://www.w3.org/XML/1998/namespace"/>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http://purl.org/dc/terms/"/>
    <ds:schemaRef ds:uri="http://purl.org/dc/elements/1.1/"/>
  </ds:schemaRefs>
</ds:datastoreItem>
</file>

<file path=customXml/itemProps2.xml><?xml version="1.0" encoding="utf-8"?>
<ds:datastoreItem xmlns:ds="http://schemas.openxmlformats.org/officeDocument/2006/customXml" ds:itemID="{D33F6849-70DE-4CED-93B7-42E420640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7b933a-14fe-476f-887c-7887b29198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BD0F501-388D-4F0F-9ACC-F3EB394BE28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TM04033919[[fn=Circuito]]</Template>
  <TotalTime>601</TotalTime>
  <Words>1561</Words>
  <Application>Microsoft Office PowerPoint</Application>
  <PresentationFormat>Panorámica</PresentationFormat>
  <Paragraphs>110</Paragraphs>
  <Slides>25</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Calibri</vt:lpstr>
      <vt:lpstr>Trebuchet MS</vt:lpstr>
      <vt:lpstr>Tw Cen MT</vt:lpstr>
      <vt:lpstr>Circuito</vt:lpstr>
      <vt:lpstr>Introducción a la inteligencia artificial y sus algoritmos</vt:lpstr>
      <vt:lpstr>¡¡¡HOY ES EL EXAMEN!!!</vt:lpstr>
      <vt:lpstr>ENCUESTA DE SATISFACCIÓN</vt:lpstr>
      <vt:lpstr>TAREAS IMPORTANTES</vt:lpstr>
      <vt:lpstr>Supervivencia en el titanic</vt:lpstr>
      <vt:lpstr>introducción</vt:lpstr>
      <vt:lpstr>Exploramos el dataset</vt:lpstr>
      <vt:lpstr>Limpieza de los datos</vt:lpstr>
      <vt:lpstr>Limpieza de los datos</vt:lpstr>
      <vt:lpstr>Limpieza de los datos</vt:lpstr>
      <vt:lpstr>preprocesamiento</vt:lpstr>
      <vt:lpstr>PREPROCESAMIENTO</vt:lpstr>
      <vt:lpstr>PREPROCESAMIENTO</vt:lpstr>
      <vt:lpstr>Entrenamiento del modelo</vt:lpstr>
      <vt:lpstr>Hacemos predicciones con test</vt:lpstr>
      <vt:lpstr>Presentación de PowerPoint</vt:lpstr>
      <vt:lpstr>Interpretación de los resultados</vt:lpstr>
      <vt:lpstr>Regresión logística</vt:lpstr>
      <vt:lpstr>Matriz de confusión</vt:lpstr>
      <vt:lpstr>Comparativa de las matrices de confusión</vt:lpstr>
      <vt:lpstr>coeficientes de las Variables en r. logística</vt:lpstr>
      <vt:lpstr>Coeficientes de las variables en R. logística</vt:lpstr>
      <vt:lpstr>Aplicación del modelo a nuevos datos</vt:lpstr>
      <vt:lpstr>Presentación de PowerPoint</vt:lpstr>
      <vt:lpstr>¿Podemos saber si las predicciones del nuevo dataset son correctas?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Introducción a la inteligencia artificial y sus algoritmos</dc:title>
  <dc:creator>BEATRIZ ALLOZA BLASCO</dc:creator>
  <cp:lastModifiedBy>BEATRIZ ALLOZA BLASCO</cp:lastModifiedBy>
  <cp:revision>24</cp:revision>
  <dcterms:created xsi:type="dcterms:W3CDTF">2025-08-01T11:04:00Z</dcterms:created>
  <dcterms:modified xsi:type="dcterms:W3CDTF">2025-10-14T19:44:55Z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0x0101009E46E012CDDA0A4C813C59E9BE02F8FE</vt:lpwstr>
  </property>
</Properties>
</file>